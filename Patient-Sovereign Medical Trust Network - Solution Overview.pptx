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96240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PATIENT-SOVEREIGN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TRUST NETWORK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4160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patient-controlled healthcare trust network with cryptographic consent, AI-assisted prescription safety, and continuous fraud detection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5257800"/>
            <a:ext cx="2496312" cy="384048"/>
          </a:xfrm>
          <a:prstGeom prst="roundRect">
            <a:avLst>
              <a:gd name="adj" fmla="val 50000"/>
            </a:avLst>
          </a:prstGeom>
          <a:solidFill>
            <a:srgbClr val="0F45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25780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Patient-Controlled Access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20440" y="5257800"/>
            <a:ext cx="2137867" cy="384048"/>
          </a:xfrm>
          <a:prstGeom prst="roundRect">
            <a:avLst>
              <a:gd name="adj" fmla="val 50000"/>
            </a:avLst>
          </a:prstGeom>
          <a:solidFill>
            <a:srgbClr val="0F45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5257800"/>
            <a:ext cx="21378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Consent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9475" y="5257800"/>
            <a:ext cx="2227478" cy="384048"/>
          </a:xfrm>
          <a:prstGeom prst="roundRect">
            <a:avLst>
              <a:gd name="adj" fmla="val 50000"/>
            </a:avLst>
          </a:prstGeom>
          <a:solidFill>
            <a:srgbClr val="0F45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9475" y="5257800"/>
            <a:ext cx="2227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Prescription Safety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88122" y="52578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F45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88122" y="52578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Solution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today is fragmented and patients rarely control who sees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8105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pharmacies, and insurers hold separate, siloed records with no unified patient control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5237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granted broadly, not scoped — a doctor sees far more than the current visit requires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2369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and claims can be altered or duplicated without anyone noticing until it's too late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9502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have no clear, trustworthy record of who accessed their data, when, and why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35240" y="1737360"/>
            <a:ext cx="3977640" cy="4206240"/>
          </a:xfrm>
          <a:prstGeom prst="roundRect">
            <a:avLst>
              <a:gd name="adj" fmla="val 2759"/>
            </a:avLst>
          </a:prstGeom>
          <a:solidFill>
            <a:srgbClr val="072B2C"/>
          </a:solidFill>
          <a:ln/>
          <a:effectLst>
            <a:outerShdw sx="100000" sy="100000" kx="0" ky="0" algn="bl" rotWithShape="0" blurRad="101600" dist="38100" dir="5400000">
              <a:srgbClr val="1A2E2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0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9298" y="2155698"/>
            <a:ext cx="352044" cy="3520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732520" y="2084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Answer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955280" y="2788920"/>
            <a:ext cx="33832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becomes the final authority over every access to their medical record — every request is scoped, every approval is cryptographically signed, and every event is auditable.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at the center, trust layer in the middle, three role-based dashboards, AI intelligence underneath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166360" y="146304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072B2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1636776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23560" y="14630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80760" y="2148840"/>
            <a:ext cx="0" cy="274320"/>
          </a:xfrm>
          <a:prstGeom prst="line">
            <a:avLst/>
          </a:prstGeom>
          <a:noFill/>
          <a:ln w="19050">
            <a:solidFill>
              <a:srgbClr val="5B7373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3566160" y="2423160"/>
            <a:ext cx="502920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356616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CONSENT LAYER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749040" y="2926080"/>
            <a:ext cx="822960" cy="777240"/>
          </a:xfrm>
          <a:prstGeom prst="roundRect">
            <a:avLst>
              <a:gd name="adj" fmla="val 7059"/>
            </a:avLst>
          </a:prstGeom>
          <a:solidFill>
            <a:srgbClr val="0A6E7A"/>
          </a:solidFill>
          <a:ln/>
        </p:spPr>
      </p:sp>
      <p:sp>
        <p:nvSpPr>
          <p:cNvPr id="11" name="Text 8"/>
          <p:cNvSpPr/>
          <p:nvPr/>
        </p:nvSpPr>
        <p:spPr>
          <a:xfrm>
            <a:off x="3749040" y="2926080"/>
            <a:ext cx="822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81728" y="2926080"/>
            <a:ext cx="822960" cy="777240"/>
          </a:xfrm>
          <a:prstGeom prst="roundRect">
            <a:avLst>
              <a:gd name="adj" fmla="val 7059"/>
            </a:avLst>
          </a:prstGeom>
          <a:solidFill>
            <a:srgbClr val="0A6E7A"/>
          </a:solidFill>
          <a:ln/>
        </p:spPr>
      </p:sp>
      <p:sp>
        <p:nvSpPr>
          <p:cNvPr id="13" name="Text 10"/>
          <p:cNvSpPr/>
          <p:nvPr/>
        </p:nvSpPr>
        <p:spPr>
          <a:xfrm>
            <a:off x="4681728" y="2926080"/>
            <a:ext cx="822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Ctrl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14416" y="2926080"/>
            <a:ext cx="822960" cy="777240"/>
          </a:xfrm>
          <a:prstGeom prst="roundRect">
            <a:avLst>
              <a:gd name="adj" fmla="val 7059"/>
            </a:avLst>
          </a:prstGeom>
          <a:solidFill>
            <a:srgbClr val="0A6E7A"/>
          </a:solidFill>
          <a:ln/>
        </p:spPr>
      </p:sp>
      <p:sp>
        <p:nvSpPr>
          <p:cNvPr id="15" name="Text 12"/>
          <p:cNvSpPr/>
          <p:nvPr/>
        </p:nvSpPr>
        <p:spPr>
          <a:xfrm>
            <a:off x="5614416" y="2926080"/>
            <a:ext cx="822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47104" y="2926080"/>
            <a:ext cx="822960" cy="777240"/>
          </a:xfrm>
          <a:prstGeom prst="roundRect">
            <a:avLst>
              <a:gd name="adj" fmla="val 7059"/>
            </a:avLst>
          </a:prstGeom>
          <a:solidFill>
            <a:srgbClr val="0A6E7A"/>
          </a:solidFill>
          <a:ln/>
        </p:spPr>
      </p:sp>
      <p:sp>
        <p:nvSpPr>
          <p:cNvPr id="17" name="Text 14"/>
          <p:cNvSpPr/>
          <p:nvPr/>
        </p:nvSpPr>
        <p:spPr>
          <a:xfrm>
            <a:off x="6547104" y="2926080"/>
            <a:ext cx="822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Ledger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79792" y="2926080"/>
            <a:ext cx="822960" cy="777240"/>
          </a:xfrm>
          <a:prstGeom prst="roundRect">
            <a:avLst>
              <a:gd name="adj" fmla="val 7059"/>
            </a:avLst>
          </a:prstGeom>
          <a:solidFill>
            <a:srgbClr val="0A6E7A"/>
          </a:solidFill>
          <a:ln/>
        </p:spPr>
      </p:sp>
      <p:sp>
        <p:nvSpPr>
          <p:cNvPr id="19" name="Text 16"/>
          <p:cNvSpPr/>
          <p:nvPr/>
        </p:nvSpPr>
        <p:spPr>
          <a:xfrm>
            <a:off x="7479792" y="2926080"/>
            <a:ext cx="822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354580" y="3840480"/>
            <a:ext cx="0" cy="128016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80760" y="3968496"/>
            <a:ext cx="-3726180" cy="0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54580" y="3968496"/>
            <a:ext cx="0" cy="192024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160520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00A896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4457700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463040" y="41605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Hospital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103620" y="3840480"/>
            <a:ext cx="0" cy="128016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080760" y="3968496"/>
            <a:ext cx="22860" cy="0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03620" y="3968496"/>
            <a:ext cx="0" cy="192024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572000" y="4160520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00A896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4457700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12080" y="41605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9852660" y="3840480"/>
            <a:ext cx="0" cy="128016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080760" y="3968496"/>
            <a:ext cx="3771900" cy="0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852660" y="3968496"/>
            <a:ext cx="0" cy="192024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321040" y="4160520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00A896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457700"/>
            <a:ext cx="365760" cy="3657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961120" y="41605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6080760" y="5120640"/>
            <a:ext cx="0" cy="128016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2354580" y="5248656"/>
            <a:ext cx="7498080" cy="0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2354580" y="5248656"/>
            <a:ext cx="0" cy="192024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6080760" y="5248656"/>
            <a:ext cx="0" cy="192024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9852660" y="5248656"/>
            <a:ext cx="0" cy="192024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3566160" y="544068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072B2C"/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5577840"/>
            <a:ext cx="365760" cy="36576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4251960" y="5440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INTELLIGENCE  —  Safety Analysis + Fraud/Anomaly Analysis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Role-Based Dashboards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sees only the tools and data relevant to their role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B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E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20185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Dashboard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1248" y="3282696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14553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summary, prescriptions &amp; allergies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41248" y="4032504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89534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revoke access requests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1248" y="4782312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464515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prescriptions + AI explanations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41248" y="5532120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5394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timeline &amp; security alerts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97680" y="160020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B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E2E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18745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8" y="2018538"/>
            <a:ext cx="352044" cy="3520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/ Hospital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590288" y="328269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7"/>
          <p:cNvSpPr/>
          <p:nvPr/>
        </p:nvSpPr>
        <p:spPr>
          <a:xfrm>
            <a:off x="4800600" y="314553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patients, request only needed fields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590288" y="4032504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19"/>
          <p:cNvSpPr/>
          <p:nvPr/>
        </p:nvSpPr>
        <p:spPr>
          <a:xfrm>
            <a:off x="4800600" y="389534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records only after valid consent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590288" y="4782312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1"/>
          <p:cNvSpPr/>
          <p:nvPr/>
        </p:nvSpPr>
        <p:spPr>
          <a:xfrm>
            <a:off x="4800600" y="464515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prescriptions + run AI safety checks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590288" y="553212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3"/>
          <p:cNvSpPr/>
          <p:nvPr/>
        </p:nvSpPr>
        <p:spPr>
          <a:xfrm>
            <a:off x="4800600" y="5394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sign every prescription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046720" y="160020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B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E2E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321040" y="18745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058" y="2018538"/>
            <a:ext cx="352044" cy="35204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32104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Pharmacy / Insurance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8339328" y="3282696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28"/>
          <p:cNvSpPr/>
          <p:nvPr/>
        </p:nvSpPr>
        <p:spPr>
          <a:xfrm>
            <a:off x="8549640" y="314553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signature, expiry &amp; redemption status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8339328" y="4032504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0"/>
          <p:cNvSpPr/>
          <p:nvPr/>
        </p:nvSpPr>
        <p:spPr>
          <a:xfrm>
            <a:off x="8549640" y="389534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dispensing transactions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8339328" y="478231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2"/>
          <p:cNvSpPr/>
          <p:nvPr/>
        </p:nvSpPr>
        <p:spPr>
          <a:xfrm>
            <a:off x="8549640" y="464515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claims vs. prescriptions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339328" y="5532120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Text 34"/>
          <p:cNvSpPr/>
          <p:nvPr/>
        </p:nvSpPr>
        <p:spPr>
          <a:xfrm>
            <a:off x="8549640" y="5394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fraud &amp; anomaly alerts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registration to a fully audited, signed clinical transaction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823085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9808" y="23774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274320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account creates a unique ID + cryptographic identity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9272" y="150876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</p:spPr>
      </p:sp>
      <p:sp>
        <p:nvSpPr>
          <p:cNvPr id="11" name="Shape 8"/>
          <p:cNvSpPr/>
          <p:nvPr/>
        </p:nvSpPr>
        <p:spPr>
          <a:xfrm>
            <a:off x="3520440" y="17099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597" y="1823085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3095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520440" y="23774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Request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20440" y="274320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requests only the minimum fields, states purpose &amp; duration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9904" y="150876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</p:spPr>
      </p:sp>
      <p:sp>
        <p:nvSpPr>
          <p:cNvPr id="17" name="Shape 13"/>
          <p:cNvSpPr/>
          <p:nvPr/>
        </p:nvSpPr>
        <p:spPr>
          <a:xfrm>
            <a:off x="6291072" y="17099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229" y="1823085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0158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291072" y="23774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&amp; Sign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91072" y="274320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approves via QR + phone biometric; signed consent is created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860536" y="150876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</p:spPr>
      </p:sp>
      <p:sp>
        <p:nvSpPr>
          <p:cNvPr id="23" name="Shape 18"/>
          <p:cNvSpPr/>
          <p:nvPr/>
        </p:nvSpPr>
        <p:spPr>
          <a:xfrm>
            <a:off x="9061704" y="17099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861" y="1823085"/>
            <a:ext cx="276606" cy="27660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7221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9061704" y="23774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Access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061704" y="274320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sees only the authorized fields — nothing more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1148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E3F4F1"/>
          </a:solidFill>
          <a:ln/>
        </p:spPr>
      </p:sp>
      <p:sp>
        <p:nvSpPr>
          <p:cNvPr id="29" name="Shape 23"/>
          <p:cNvSpPr/>
          <p:nvPr/>
        </p:nvSpPr>
        <p:spPr>
          <a:xfrm>
            <a:off x="749808" y="43159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65" y="4429125"/>
            <a:ext cx="276606" cy="27660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5603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749808" y="498348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Safety Check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49808" y="534924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is screened for allergy, interaction &amp; dosage risk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3319272" y="41148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E3F4F1"/>
          </a:solidFill>
          <a:ln/>
        </p:spPr>
      </p:sp>
      <p:sp>
        <p:nvSpPr>
          <p:cNvPr id="35" name="Shape 28"/>
          <p:cNvSpPr/>
          <p:nvPr/>
        </p:nvSpPr>
        <p:spPr>
          <a:xfrm>
            <a:off x="3520440" y="43159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597" y="4429125"/>
            <a:ext cx="276606" cy="27660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330952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3520440" y="498348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Signs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3520440" y="534924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prescription gets a signature + integrity hash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089904" y="41148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E3F4F1"/>
          </a:solidFill>
          <a:ln/>
        </p:spPr>
      </p:sp>
      <p:sp>
        <p:nvSpPr>
          <p:cNvPr id="41" name="Shape 33"/>
          <p:cNvSpPr/>
          <p:nvPr/>
        </p:nvSpPr>
        <p:spPr>
          <a:xfrm>
            <a:off x="6291072" y="43159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4229" y="4429125"/>
            <a:ext cx="276606" cy="27660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101584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4" name="Text 35"/>
          <p:cNvSpPr/>
          <p:nvPr/>
        </p:nvSpPr>
        <p:spPr>
          <a:xfrm>
            <a:off x="6291072" y="498348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Pharmacy Verify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6291072" y="534924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Signature, expiry &amp; redemption checked before dispensing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8860536" y="41148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E3F4F1"/>
          </a:solidFill>
          <a:ln/>
        </p:spPr>
      </p:sp>
      <p:sp>
        <p:nvSpPr>
          <p:cNvPr id="47" name="Shape 38"/>
          <p:cNvSpPr/>
          <p:nvPr/>
        </p:nvSpPr>
        <p:spPr>
          <a:xfrm>
            <a:off x="9061704" y="43159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4861" y="4429125"/>
            <a:ext cx="276606" cy="276606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0872216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50" name="Text 40"/>
          <p:cNvSpPr/>
          <p:nvPr/>
        </p:nvSpPr>
        <p:spPr>
          <a:xfrm>
            <a:off x="9061704" y="498348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&amp; Audit</a:t>
            </a:r>
            <a:endParaRPr lang="en-US" sz="1300" dirty="0"/>
          </a:p>
        </p:txBody>
      </p:sp>
      <p:sp>
        <p:nvSpPr>
          <p:cNvPr id="51" name="Text 41"/>
          <p:cNvSpPr/>
          <p:nvPr/>
        </p:nvSpPr>
        <p:spPr>
          <a:xfrm>
            <a:off x="9061704" y="534924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cross-checks the claim; every event lands on the timeline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Trust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core — standalone, pluggable, and independently demonstrable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1508760"/>
            <a:ext cx="228600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6276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1508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TRUST ENGINE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080760" y="2103120"/>
            <a:ext cx="0" cy="18288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2286000"/>
            <a:ext cx="0" cy="18288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77440" y="2286000"/>
            <a:ext cx="37033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45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8720" y="27889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877" y="290207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2788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Service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8872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key management (ECDSA-P256)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0760" y="2103120"/>
            <a:ext cx="0" cy="18288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80760" y="2286000"/>
            <a:ext cx="0" cy="18288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09160" y="26060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45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92040" y="27889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197" y="2902077"/>
            <a:ext cx="276606" cy="27660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32120" y="2788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Service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8920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consent + expiry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80760" y="2103120"/>
            <a:ext cx="0" cy="18288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784080" y="2286000"/>
            <a:ext cx="0" cy="18288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080760" y="2286000"/>
            <a:ext cx="37033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412480" y="26060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45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595360" y="27889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517" y="2902077"/>
            <a:ext cx="276606" cy="27660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35440" y="2788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Service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859536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/ verify any transaction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2377440" y="3977640"/>
            <a:ext cx="0" cy="12801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080760" y="3977640"/>
            <a:ext cx="0" cy="12801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784080" y="3977640"/>
            <a:ext cx="0" cy="12801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2377440" y="4105656"/>
            <a:ext cx="740664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080760" y="4105656"/>
            <a:ext cx="0" cy="155448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480560" y="4389120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02C39A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471416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029200" y="4389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SERVICE — Hash + Tamper Check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080760" y="4892040"/>
            <a:ext cx="0" cy="3200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937760" y="52120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A6E7A"/>
          </a:solidFill>
          <a:ln/>
        </p:spPr>
      </p:sp>
      <p:sp>
        <p:nvSpPr>
          <p:cNvPr id="40" name="Text 33"/>
          <p:cNvSpPr/>
          <p:nvPr/>
        </p:nvSpPr>
        <p:spPr>
          <a:xfrm>
            <a:off x="4937760" y="5212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&amp; Anomaly Detection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security rules combined with behavioral anomaly detection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B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E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189623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— Deterministic Rules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8680" y="2505456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3682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signature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285292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715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expired consent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3200400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already redeemed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3547872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3410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or quantity mismatch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155448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B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E2E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783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517" y="1896237"/>
            <a:ext cx="276606" cy="27660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— Behavioral Anomaly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355080" y="250545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7"/>
          <p:cNvSpPr/>
          <p:nvPr/>
        </p:nvSpPr>
        <p:spPr>
          <a:xfrm>
            <a:off x="6537960" y="23682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/ rapid prescriptions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355080" y="285292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19"/>
          <p:cNvSpPr/>
          <p:nvPr/>
        </p:nvSpPr>
        <p:spPr>
          <a:xfrm>
            <a:off x="6537960" y="2715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Device, location &amp; time anomalies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355080" y="320040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1"/>
          <p:cNvSpPr/>
          <p:nvPr/>
        </p:nvSpPr>
        <p:spPr>
          <a:xfrm>
            <a:off x="653796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access or claim frequency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355080" y="3547872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3"/>
          <p:cNvSpPr/>
          <p:nvPr/>
        </p:nvSpPr>
        <p:spPr>
          <a:xfrm>
            <a:off x="6537960" y="3410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— unsupervised, no labeled fraud data needed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080760" y="3703320"/>
            <a:ext cx="0" cy="274320"/>
          </a:xfrm>
          <a:prstGeom prst="line">
            <a:avLst/>
          </a:prstGeom>
          <a:noFill/>
          <a:ln w="19050">
            <a:solidFill>
              <a:srgbClr val="5B7373"/>
            </a:solidFill>
            <a:prstDash val="dash"/>
          </a:ln>
        </p:spPr>
      </p:sp>
      <p:sp>
        <p:nvSpPr>
          <p:cNvPr id="29" name="Shape 25"/>
          <p:cNvSpPr/>
          <p:nvPr/>
        </p:nvSpPr>
        <p:spPr>
          <a:xfrm>
            <a:off x="4480560" y="3977640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072B2C"/>
          </a:solidFill>
          <a:ln/>
        </p:spPr>
      </p:sp>
      <p:sp>
        <p:nvSpPr>
          <p:cNvPr id="30" name="Text 26"/>
          <p:cNvSpPr/>
          <p:nvPr/>
        </p:nvSpPr>
        <p:spPr>
          <a:xfrm>
            <a:off x="448056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RISK SCORE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120640" y="4480560"/>
            <a:ext cx="-1371600" cy="320040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040880" y="4480560"/>
            <a:ext cx="1371600" cy="320040"/>
          </a:xfrm>
          <a:prstGeom prst="line">
            <a:avLst/>
          </a:prstGeom>
          <a:noFill/>
          <a:ln w="19050">
            <a:solidFill>
              <a:srgbClr val="5B7373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286000" y="4800600"/>
            <a:ext cx="2377440" cy="594360"/>
          </a:xfrm>
          <a:prstGeom prst="roundRect">
            <a:avLst>
              <a:gd name="adj" fmla="val 49231"/>
            </a:avLst>
          </a:prstGeom>
          <a:solidFill>
            <a:srgbClr val="02C39A"/>
          </a:solidFill>
          <a:ln/>
        </p:spPr>
      </p:sp>
      <p:sp>
        <p:nvSpPr>
          <p:cNvPr id="34" name="Text 30"/>
          <p:cNvSpPr/>
          <p:nvPr/>
        </p:nvSpPr>
        <p:spPr>
          <a:xfrm>
            <a:off x="2286000" y="4800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 →  Allow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7315200" y="4800600"/>
            <a:ext cx="2834640" cy="594360"/>
          </a:xfrm>
          <a:prstGeom prst="roundRect">
            <a:avLst>
              <a:gd name="adj" fmla="val 49231"/>
            </a:avLst>
          </a:prstGeom>
          <a:solidFill>
            <a:srgbClr val="C1440E"/>
          </a:solidFill>
          <a:ln/>
        </p:spPr>
      </p:sp>
      <p:sp>
        <p:nvSpPr>
          <p:cNvPr id="36" name="Text 32"/>
          <p:cNvSpPr/>
          <p:nvPr/>
        </p:nvSpPr>
        <p:spPr>
          <a:xfrm>
            <a:off x="7315200" y="48006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→  Alert + Review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548640" y="58064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is phrased as "suspicious activity" or "requires review" — never a confirmed accusation.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Cryptographic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access, signature, and record follows the same set of hard rules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AF6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8608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raw biometrics on server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Fingerprints/face data never leave the device — only a cryptographic proof is sent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60520" y="15087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AF6F6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1737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64" y="18608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QR, 60s expiry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389120" y="2880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carries only a short-lived reference/nonce — never medical data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0" y="15087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AF6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001000" y="1737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444" y="18608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01000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Off-chain storage + hashes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01000" y="2880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stays off-ledger; hashes, signatures &amp; an audit layer prove integrity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AF6F6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423824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 is scoped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257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Requester, fields, purpose and expiry are bound into every access grant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160520" y="3886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AF6F6"/>
          </a:solidFill>
          <a:ln/>
        </p:spPr>
      </p:sp>
      <p:sp>
        <p:nvSpPr>
          <p:cNvPr id="25" name="Shape 19"/>
          <p:cNvSpPr/>
          <p:nvPr/>
        </p:nvSpPr>
        <p:spPr>
          <a:xfrm>
            <a:off x="4389120" y="4114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564" y="423824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89120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WebAuthn / passkeys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389120" y="5257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Phone/device biometric authentication through a secure standard mechanism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772400" y="3886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AF6F6"/>
          </a:solidFill>
          <a:ln/>
        </p:spPr>
      </p:sp>
      <p:sp>
        <p:nvSpPr>
          <p:cNvPr id="30" name="Shape 23"/>
          <p:cNvSpPr/>
          <p:nvPr/>
        </p:nvSpPr>
        <p:spPr>
          <a:xfrm>
            <a:off x="8001000" y="4114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4444" y="423824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01000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 is audited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001000" y="5257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Security-sensitive events create an audit event, visible to the patient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modules, one shared JSON contract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0F45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20185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41248" y="3291840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14553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(JS / TypeScript)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41248" y="4069080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92277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Doctor / Pharmacy dashboards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1248" y="4846320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47000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Crypto Engine APIs directly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97680" y="1600200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0F45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18745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8" y="201853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Trust Engine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4590288" y="329184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5"/>
          <p:cNvSpPr/>
          <p:nvPr/>
        </p:nvSpPr>
        <p:spPr>
          <a:xfrm>
            <a:off x="4800600" y="314553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TypeScript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90288" y="406908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7"/>
          <p:cNvSpPr/>
          <p:nvPr/>
        </p:nvSpPr>
        <p:spPr>
          <a:xfrm>
            <a:off x="4800600" y="392277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node:crypto — ECDSA-P256, AES-256-GCM, SHA-256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590288" y="484632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19"/>
          <p:cNvSpPr/>
          <p:nvPr/>
        </p:nvSpPr>
        <p:spPr>
          <a:xfrm>
            <a:off x="4800600" y="47000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WebAuthn / passkeys for phone auth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046720" y="1600200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0F454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321040" y="18745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058" y="2018538"/>
            <a:ext cx="352044" cy="3520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32104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Clinical Intelligence</a:t>
            </a:r>
            <a:endParaRPr lang="en-US" sz="1550" dirty="0"/>
          </a:p>
        </p:txBody>
      </p:sp>
      <p:sp>
        <p:nvSpPr>
          <p:cNvPr id="28" name="Shape 23"/>
          <p:cNvSpPr/>
          <p:nvPr/>
        </p:nvSpPr>
        <p:spPr>
          <a:xfrm>
            <a:off x="8339328" y="3291840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4"/>
          <p:cNvSpPr/>
          <p:nvPr/>
        </p:nvSpPr>
        <p:spPr>
          <a:xfrm>
            <a:off x="8549640" y="314553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339328" y="4069080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6"/>
          <p:cNvSpPr/>
          <p:nvPr/>
        </p:nvSpPr>
        <p:spPr>
          <a:xfrm>
            <a:off x="8549640" y="392277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safety checks + Isolation Forest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8339328" y="4846320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28"/>
          <p:cNvSpPr/>
          <p:nvPr/>
        </p:nvSpPr>
        <p:spPr>
          <a:xfrm>
            <a:off x="8549640" y="47000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 synthetic patient dataset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Current Progress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independently, integrated through a shared JSON contract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B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E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971" y="196253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013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Pooja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1305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role-based dashboards (React)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600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B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E2E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8288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011" y="196253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8013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Aadhesh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303520" y="21305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Intelligence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26280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safety + fraud/anomaly scoring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6720" y="1600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BEB"/>
            </a:solidFill>
            <a:prstDash val="solid"/>
          </a:ln>
          <a:effectLst>
            <a:outerShdw sx="100000" sy="100000" kx="0" ky="0" algn="bl" rotWithShape="0" blurRad="76200" dist="25400" dir="5400000">
              <a:srgbClr val="1A2E2E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75320" y="182880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051" y="1962531"/>
            <a:ext cx="326898" cy="3268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2560" y="18013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Kanish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052560" y="21305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Trust Engine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75320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consent, signatures, tamper detection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931920"/>
            <a:ext cx="10835640" cy="1005840"/>
          </a:xfrm>
          <a:prstGeom prst="roundRect">
            <a:avLst>
              <a:gd name="adj" fmla="val 9091"/>
            </a:avLst>
          </a:prstGeom>
          <a:solidFill>
            <a:srgbClr val="0F4547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27024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069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Trust Engine — Tier 1 core capabilities built and independently tested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508760" y="44348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generation, AES-GCM encryption, SHA-256 hashing, consent + prescription signing, scope/expiry verification, and tamper detection are all passing their test scenarios — ready to plug into the frontend and AI modules.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5-Minute Demo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judges will see, start to finish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481328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dashboard shows records, allergies &amp; pending requests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395728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requests only Medications + Allergies + Prescriptions, with purpose &amp; expiry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3310128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approves via QR-to-phone biometric / PIN flow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4224528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sees only authorized data and drafts a prescription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5138928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instantly scores safety and explains allergy / interaction / dosage risk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1554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01968" y="1481328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reviews, signs the finalized prescription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0" y="24688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01968" y="2395728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scans it — Signature Verified / Not Expired / Not Redeemed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35040" y="33832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01968" y="3310128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 is cross-checked against the signed prescription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35040" y="4297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01968" y="4224528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fraud scenario is triggered live — tampering is caught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35040" y="5212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01968" y="5138928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audit timeline shows every event, including the blocked attempt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2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8686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10744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488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patient doesn't just own their</a:t>
            </a:r>
            <a:endParaRPr lang="en-US" sz="3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data.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463040" y="3657600"/>
            <a:ext cx="923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prove who accessed it, why they accessed it, what they accessed, and whether anything suspicious happened.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Patient-Sovereign Medical Trust Network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2026-09-02T07:41:24Z</dcterms:created>
  <dcterms:modified xsi:type="dcterms:W3CDTF">2026-09-02T07:41:24Z</dcterms:modified>
</cp:coreProperties>
</file>